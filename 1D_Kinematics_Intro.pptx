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1371600" y="4846320"/>
            <a:ext cx="15544800" cy="2926080"/>
          </a:xfrm>
          <a:prstGeom prst="parallelogram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Arrow 3"/>
          <p:cNvSpPr/>
          <p:nvPr/>
        </p:nvSpPr>
        <p:spPr>
          <a:xfrm>
            <a:off x="822960" y="960120"/>
            <a:ext cx="1188720" cy="256032"/>
          </a:xfrm>
          <a:prstGeom prst="rightArrow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EC4B6"/>
                </a:solidFill>
                <a:latin typeface="Arial"/>
              </a:rPr>
              <a:t>PHYSICS MECHANICS 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FFFFFF"/>
                </a:solidFill>
                <a:latin typeface="Arial"/>
              </a:rPr>
              <a:t>Introduction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1D Kinematics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9EDF3"/>
                </a:solidFill>
                <a:latin typeface="Arial"/>
              </a:rPr>
              <a:t>Describing motion along a straight line — position, velocity, acceleration, and the equations that connect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FD8E6"/>
                </a:solidFill>
                <a:latin typeface="Arial"/>
              </a:rPr>
              <a:t>Unit 1  •  Kinematics in One Dimension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445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B6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What is Kinematics?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384048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B1F3A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EC4B6"/>
                </a:solidFill>
                <a:latin typeface="Arial"/>
              </a:rPr>
              <a:t>Kinematics</a:t>
            </a:r>
            <a:r>
              <a:rPr sz="1700" b="0" i="0">
                <a:solidFill>
                  <a:srgbClr val="FFFFFF"/>
                </a:solidFill>
                <a:latin typeface="Arial"/>
              </a:rPr>
              <a:t>  is the branch of mechanics that describes </a:t>
            </a:r>
            <a:r>
              <a:rPr sz="1700" b="1" i="0">
                <a:solidFill>
                  <a:srgbClr val="F2A63D"/>
                </a:solidFill>
                <a:latin typeface="Arial"/>
              </a:rPr>
              <a:t>how objects move</a:t>
            </a:r>
            <a:r>
              <a:rPr sz="1700" b="0" i="0">
                <a:solidFill>
                  <a:srgbClr val="FFFFFF"/>
                </a:solidFill>
                <a:latin typeface="Arial"/>
              </a:rPr>
              <a:t> — without asking what causes the motion (that's </a:t>
            </a:r>
            <a:r>
              <a:rPr sz="1700" b="1" i="0">
                <a:solidFill>
                  <a:srgbClr val="2EC4B6"/>
                </a:solidFill>
                <a:latin typeface="Arial"/>
              </a:rPr>
              <a:t>dynamics</a:t>
            </a:r>
            <a:r>
              <a:rPr sz="1700" b="0" i="0">
                <a:solidFill>
                  <a:srgbClr val="FFFFFF"/>
                </a:solidFill>
                <a:latin typeface="Arial"/>
              </a:rPr>
              <a:t>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5349240" cy="196596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 w="12700">
            <a:solidFill>
              <a:srgbClr val="E9EDF3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8F84"/>
                </a:solidFill>
                <a:latin typeface="Arial"/>
              </a:rPr>
              <a:t>🔵 SCALAR QUANTITIES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434842"/>
            <a:ext cx="62611" cy="62611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383280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33D4C"/>
                </a:solidFill>
                <a:latin typeface="Arial"/>
              </a:rPr>
              <a:t>Magnitude </a:t>
            </a:r>
            <a:r>
              <a:rPr sz="1450" b="1" i="0">
                <a:solidFill>
                  <a:srgbClr val="333D4C"/>
                </a:solidFill>
                <a:latin typeface="Arial"/>
              </a:rPr>
              <a:t>only</a:t>
            </a:r>
            <a:r>
              <a:rPr sz="1450" b="0" i="0">
                <a:solidFill>
                  <a:srgbClr val="333D4C"/>
                </a:solidFill>
                <a:latin typeface="Arial"/>
              </a:rPr>
              <a:t> — just a number + unit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63340"/>
            <a:ext cx="62611" cy="62611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811778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33D4C"/>
                </a:solidFill>
                <a:latin typeface="Arial"/>
              </a:rPr>
              <a:t>Examples: </a:t>
            </a:r>
            <a:r>
              <a:rPr sz="1450" b="1" i="0">
                <a:solidFill>
                  <a:srgbClr val="333D4C"/>
                </a:solidFill>
                <a:latin typeface="Arial"/>
              </a:rPr>
              <a:t>distance</a:t>
            </a:r>
            <a:r>
              <a:rPr sz="1450" b="0" i="0">
                <a:solidFill>
                  <a:srgbClr val="333D4C"/>
                </a:solidFill>
                <a:latin typeface="Arial"/>
              </a:rPr>
              <a:t>, </a:t>
            </a:r>
            <a:r>
              <a:rPr sz="1450" b="1" i="0">
                <a:solidFill>
                  <a:srgbClr val="333D4C"/>
                </a:solidFill>
                <a:latin typeface="Arial"/>
              </a:rPr>
              <a:t>speed</a:t>
            </a:r>
            <a:r>
              <a:rPr sz="1450" b="0" i="0">
                <a:solidFill>
                  <a:srgbClr val="333D4C"/>
                </a:solidFill>
                <a:latin typeface="Arial"/>
              </a:rPr>
              <a:t>, time, mass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91838"/>
            <a:ext cx="62611" cy="62611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40276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33D4C"/>
                </a:solidFill>
                <a:latin typeface="Arial"/>
              </a:rPr>
              <a:t>e.g. “5 meters” or “10 m/s”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88920"/>
            <a:ext cx="5349240" cy="1965960"/>
          </a:xfrm>
          <a:prstGeom prst="roundRect">
            <a:avLst>
              <a:gd name="adj" fmla="val 7000"/>
            </a:avLst>
          </a:prstGeom>
          <a:solidFill>
            <a:srgbClr val="F7F9FC"/>
          </a:solidFill>
          <a:ln w="12700">
            <a:solidFill>
              <a:srgbClr val="E9EDF3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97180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76A1B"/>
                </a:solidFill>
                <a:latin typeface="Arial"/>
              </a:rPr>
              <a:t>🟠 VECTOR QUANTITIES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434842"/>
            <a:ext cx="62611" cy="62611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3383280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33D4C"/>
                </a:solidFill>
                <a:latin typeface="Arial"/>
              </a:rPr>
              <a:t>Magnitude </a:t>
            </a:r>
            <a:r>
              <a:rPr sz="1450" b="1" i="0">
                <a:solidFill>
                  <a:srgbClr val="333D4C"/>
                </a:solidFill>
                <a:latin typeface="Arial"/>
              </a:rPr>
              <a:t>and</a:t>
            </a:r>
            <a:r>
              <a:rPr sz="1450" b="0" i="0">
                <a:solidFill>
                  <a:srgbClr val="333D4C"/>
                </a:solidFill>
                <a:latin typeface="Arial"/>
              </a:rPr>
              <a:t> direction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63340"/>
            <a:ext cx="62611" cy="62611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3811778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33D4C"/>
                </a:solidFill>
                <a:latin typeface="Arial"/>
              </a:rPr>
              <a:t>Examples: </a:t>
            </a:r>
            <a:r>
              <a:rPr sz="1450" b="1" i="0">
                <a:solidFill>
                  <a:srgbClr val="333D4C"/>
                </a:solidFill>
                <a:latin typeface="Arial"/>
              </a:rPr>
              <a:t>displacement</a:t>
            </a:r>
            <a:r>
              <a:rPr sz="1450" b="0" i="0">
                <a:solidFill>
                  <a:srgbClr val="333D4C"/>
                </a:solidFill>
                <a:latin typeface="Arial"/>
              </a:rPr>
              <a:t>, </a:t>
            </a:r>
            <a:r>
              <a:rPr sz="1450" b="1" i="0">
                <a:solidFill>
                  <a:srgbClr val="333D4C"/>
                </a:solidFill>
                <a:latin typeface="Arial"/>
              </a:rPr>
              <a:t>velocity</a:t>
            </a:r>
            <a:r>
              <a:rPr sz="1450" b="0" i="0">
                <a:solidFill>
                  <a:srgbClr val="333D4C"/>
                </a:solidFill>
                <a:latin typeface="Arial"/>
              </a:rPr>
              <a:t>, acceleration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4291838"/>
            <a:ext cx="62611" cy="62611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4240276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33D4C"/>
                </a:solidFill>
                <a:latin typeface="Arial"/>
              </a:rPr>
              <a:t>e.g. “5 meters, East” or “10 m/s, +x”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10000"/>
            </a:avLst>
          </a:prstGeom>
          <a:solidFill>
            <a:srgbClr val="EAF3F7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A"/>
                </a:solidFill>
                <a:latin typeface="Arial"/>
              </a:rPr>
              <a:t>Motion in 1D:  </a:t>
            </a:r>
            <a:r>
              <a:rPr sz="1500" b="0" i="0">
                <a:solidFill>
                  <a:srgbClr val="333D4C"/>
                </a:solidFill>
                <a:latin typeface="Arial"/>
              </a:rPr>
              <a:t>In this unit, all motion happens along a </a:t>
            </a:r>
            <a:r>
              <a:rPr sz="1500" b="1" i="0">
                <a:solidFill>
                  <a:srgbClr val="333D4C"/>
                </a:solidFill>
                <a:latin typeface="Arial"/>
              </a:rPr>
              <a:t>single straight-line axis</a:t>
            </a:r>
            <a:r>
              <a:rPr sz="1500" b="0" i="0">
                <a:solidFill>
                  <a:srgbClr val="333D4C"/>
                </a:solidFill>
                <a:latin typeface="Arial"/>
              </a:rPr>
              <a:t> (usually the x-axis). Direction is shown simply with a </a:t>
            </a:r>
            <a:r>
              <a:rPr sz="1500" b="1" i="0">
                <a:solidFill>
                  <a:srgbClr val="333D4C"/>
                </a:solidFill>
                <a:latin typeface="Arial"/>
              </a:rPr>
              <a:t>positive (+) or negative (–) sign</a:t>
            </a:r>
            <a:r>
              <a:rPr sz="1500" b="0" i="0">
                <a:solidFill>
                  <a:srgbClr val="333D4C"/>
                </a:solidFill>
                <a:latin typeface="Arial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Physics Mechanics 101  |  1D Kinematics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445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B6"/>
                </a:solidFill>
                <a:latin typeface="Arial"/>
              </a:rP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Position &amp; Displacement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384048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B1F3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Arial"/>
              </a:rPr>
              <a:t>Position (x)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75358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0240"/>
            <a:ext cx="50474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An object's </a:t>
            </a:r>
            <a:r>
              <a:rPr sz="1550" b="1" i="0">
                <a:solidFill>
                  <a:srgbClr val="333D4C"/>
                </a:solidFill>
                <a:latin typeface="Arial"/>
              </a:rPr>
              <a:t>location</a:t>
            </a:r>
            <a:r>
              <a:rPr sz="1550" b="0" i="0">
                <a:solidFill>
                  <a:srgbClr val="333D4C"/>
                </a:solidFill>
                <a:latin typeface="Arial"/>
              </a:rPr>
              <a:t> relative to a chosen origin (reference point)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372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3254"/>
            <a:ext cx="50474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Measured in </a:t>
            </a:r>
            <a:r>
              <a:rPr sz="1550" b="1" i="0">
                <a:solidFill>
                  <a:srgbClr val="333D4C"/>
                </a:solidFill>
                <a:latin typeface="Arial"/>
              </a:rPr>
              <a:t>meters (m)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61386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06268"/>
            <a:ext cx="50474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Can be positive or negative depending on which side of the origin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Arial"/>
              </a:rPr>
              <a:t>Displacement (Δx)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44238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389120"/>
            <a:ext cx="50474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The </a:t>
            </a:r>
            <a:r>
              <a:rPr sz="1550" b="1" i="0">
                <a:solidFill>
                  <a:srgbClr val="333D4C"/>
                </a:solidFill>
                <a:latin typeface="Arial"/>
              </a:rPr>
              <a:t>change in position</a:t>
            </a:r>
            <a:r>
              <a:rPr sz="1550" b="0" i="0">
                <a:solidFill>
                  <a:srgbClr val="333D4C"/>
                </a:solidFill>
                <a:latin typeface="Arial"/>
              </a:rPr>
              <a:t> — how far out of place an object 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252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882134"/>
            <a:ext cx="50474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A </a:t>
            </a:r>
            <a:r>
              <a:rPr sz="1550" b="1" i="0">
                <a:solidFill>
                  <a:srgbClr val="333D4C"/>
                </a:solidFill>
                <a:latin typeface="Arial"/>
              </a:rPr>
              <a:t>vector</a:t>
            </a:r>
            <a:r>
              <a:rPr sz="1550" b="0" i="0">
                <a:solidFill>
                  <a:srgbClr val="333D4C"/>
                </a:solidFill>
                <a:latin typeface="Arial"/>
              </a:rPr>
              <a:t>: only depends on start &amp; end points, not the path taken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430266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375148"/>
            <a:ext cx="50474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Can be zero even if distance traveled is large (round trip)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00200"/>
            <a:ext cx="5349240" cy="1828800"/>
          </a:xfrm>
          <a:prstGeom prst="roundRect">
            <a:avLst>
              <a:gd name="adj" fmla="val 12000"/>
            </a:avLst>
          </a:prstGeom>
          <a:solidFill>
            <a:srgbClr val="EAF3F7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600200"/>
            <a:ext cx="82296" cy="1828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1737360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F84"/>
                </a:solidFill>
                <a:latin typeface="Arial"/>
              </a:rPr>
              <a:t>DISPLACEMENT FORMULA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039112"/>
            <a:ext cx="4837176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B1F3A"/>
                </a:solidFill>
                <a:latin typeface="Cambria"/>
              </a:rPr>
              <a:t>Δx = x_f − x_i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333D4C"/>
                </a:solidFill>
                <a:latin typeface="Arial"/>
              </a:rPr>
              <a:t>x_f = final position     x_i = initial position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754879"/>
            <a:ext cx="5120640" cy="31750"/>
          </a:xfrm>
          <a:prstGeom prst="rect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5400000">
            <a:off x="11384280" y="4636007"/>
            <a:ext cx="201168" cy="256032"/>
          </a:xfrm>
          <a:prstGeom prst="triangle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49440" y="4636007"/>
            <a:ext cx="256032" cy="256032"/>
          </a:xfrm>
          <a:prstGeom prst="ellipse">
            <a:avLst/>
          </a:prstGeom>
          <a:solidFill>
            <a:srgbClr val="F2A63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49840" y="4636007"/>
            <a:ext cx="256032" cy="256032"/>
          </a:xfrm>
          <a:prstGeom prst="ellipse">
            <a:avLst/>
          </a:prstGeom>
          <a:solidFill>
            <a:srgbClr val="1E8F8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937759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63D"/>
                </a:solidFill>
                <a:latin typeface="Arial"/>
              </a:rPr>
              <a:t>xᵢ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4937759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8F84"/>
                </a:solidFill>
                <a:latin typeface="Arial"/>
              </a:rPr>
              <a:t>x_f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160519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8A93A3"/>
                </a:solidFill>
                <a:latin typeface="Arial"/>
              </a:rPr>
              <a:t>Origin → direction of travel along the x-axis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77456" y="4526279"/>
            <a:ext cx="3200400" cy="0"/>
          </a:xfrm>
          <a:prstGeom prst="bentConnector3">
            <a:avLst/>
          </a:prstGeom>
          <a:ln w="1905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Physics Mechanics 101  |  1D Kinematics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445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B6"/>
                </a:solidFill>
                <a:latin typeface="Arial"/>
              </a:rPr>
              <a:t>KEY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Distance vs. Displacement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384048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B1F3A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333D4C"/>
                </a:solidFill>
                <a:latin typeface="Arial"/>
              </a:rPr>
              <a:t>Two quantities that sound similar but behave very differently.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19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43400"/>
                <a:gridCol w="434340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5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37160" marR="137160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 marL="137160" marR="137160" marT="73152" marB="7315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 i="0">
                          <a:solidFill>
                            <a:srgbClr val="FFFFFF"/>
                          </a:solidFill>
                          <a:latin typeface="Arial"/>
                        </a:rPr>
                        <a:t>Displacement</a:t>
                      </a:r>
                    </a:p>
                  </a:txBody>
                  <a:tcPr marL="137160" marR="137160" marT="73152" marB="73152" anchor="ctr">
                    <a:solidFill>
                      <a:srgbClr val="0B1F3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0B1F3A"/>
                          </a:solidFill>
                          <a:latin typeface="Arial"/>
                        </a:rPr>
                        <a:t>Quantity type</a:t>
                      </a:r>
                    </a:p>
                  </a:txBody>
                  <a:tcPr marL="137160" marR="137160" marT="73152" marB="73152" anchor="ctr">
                    <a:solidFill>
                      <a:srgbClr val="E9ED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Scalar</a:t>
                      </a:r>
                    </a:p>
                  </a:txBody>
                  <a:tcPr marL="137160" marR="137160" marT="73152" marB="7315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Vector</a:t>
                      </a:r>
                    </a:p>
                  </a:txBody>
                  <a:tcPr marL="137160" marR="137160" marT="73152" marB="73152" anchor="ctr">
                    <a:solidFill>
                      <a:srgbClr val="F7F9F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0B1F3A"/>
                          </a:solidFill>
                          <a:latin typeface="Arial"/>
                        </a:rPr>
                        <a:t>Definition</a:t>
                      </a:r>
                    </a:p>
                  </a:txBody>
                  <a:tcPr marL="137160" marR="137160" marT="73152" marB="73152" anchor="ctr">
                    <a:solidFill>
                      <a:srgbClr val="E9ED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Total length of the path traveled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Straight-line change from start to end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0B1F3A"/>
                          </a:solidFill>
                          <a:latin typeface="Arial"/>
                        </a:rPr>
                        <a:t>Direction?</a:t>
                      </a:r>
                    </a:p>
                  </a:txBody>
                  <a:tcPr marL="137160" marR="137160" marT="73152" marB="73152" anchor="ctr">
                    <a:solidFill>
                      <a:srgbClr val="E9ED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37160" marR="137160" marT="73152" marB="7315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Yes (+ / –)</a:t>
                      </a:r>
                    </a:p>
                  </a:txBody>
                  <a:tcPr marL="137160" marR="137160" marT="73152" marB="73152" anchor="ctr">
                    <a:solidFill>
                      <a:srgbClr val="F7F9F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0B1F3A"/>
                          </a:solidFill>
                          <a:latin typeface="Arial"/>
                        </a:rPr>
                        <a:t>Symbol</a:t>
                      </a:r>
                    </a:p>
                  </a:txBody>
                  <a:tcPr marL="137160" marR="137160" marT="73152" marB="73152" anchor="ctr">
                    <a:solidFill>
                      <a:srgbClr val="E9ED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Δx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0B1F3A"/>
                          </a:solidFill>
                          <a:latin typeface="Arial"/>
                        </a:rPr>
                        <a:t>Units (SI)</a:t>
                      </a:r>
                    </a:p>
                  </a:txBody>
                  <a:tcPr marL="137160" marR="137160" marT="73152" marB="73152" anchor="ctr">
                    <a:solidFill>
                      <a:srgbClr val="E9ED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meters (m)</a:t>
                      </a:r>
                    </a:p>
                  </a:txBody>
                  <a:tcPr marL="137160" marR="137160" marT="73152" marB="7315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meters (m)</a:t>
                      </a:r>
                    </a:p>
                  </a:txBody>
                  <a:tcPr marL="137160" marR="137160" marT="73152" marB="73152" anchor="ctr">
                    <a:solidFill>
                      <a:srgbClr val="F7F9FC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0B1F3A"/>
                          </a:solidFill>
                          <a:latin typeface="Arial"/>
                        </a:rPr>
                        <a:t>Can it be zero
after moving?</a:t>
                      </a:r>
                    </a:p>
                  </a:txBody>
                  <a:tcPr marL="137160" marR="137160" marT="73152" marB="73152" anchor="ctr">
                    <a:solidFill>
                      <a:srgbClr val="E9ED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No (always ≥ 0)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B222D"/>
                          </a:solidFill>
                          <a:latin typeface="Arial"/>
                        </a:rPr>
                        <a:t>Yes, if start = end point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EAF3F7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68112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A"/>
                </a:solidFill>
                <a:latin typeface="Arial"/>
              </a:rPr>
              <a:t>Example:  </a:t>
            </a:r>
            <a:r>
              <a:rPr sz="1450" b="0" i="0">
                <a:solidFill>
                  <a:srgbClr val="333D4C"/>
                </a:solidFill>
                <a:latin typeface="Arial"/>
              </a:rPr>
              <a:t>Walk 8 m east, then 3 m west → </a:t>
            </a:r>
            <a:r>
              <a:rPr sz="1450" b="1" i="0">
                <a:solidFill>
                  <a:srgbClr val="E05A47"/>
                </a:solidFill>
                <a:latin typeface="Arial"/>
              </a:rPr>
              <a:t>Distance = 11 m</a:t>
            </a:r>
            <a:r>
              <a:rPr sz="1450" b="0" i="0">
                <a:solidFill>
                  <a:srgbClr val="333D4C"/>
                </a:solidFill>
                <a:latin typeface="Arial"/>
              </a:rPr>
              <a:t>   but   </a:t>
            </a:r>
            <a:r>
              <a:rPr sz="1450" b="1" i="0">
                <a:solidFill>
                  <a:srgbClr val="1E8F84"/>
                </a:solidFill>
                <a:latin typeface="Arial"/>
              </a:rPr>
              <a:t>Displacement = 5 m East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Physics Mechanics 101  |  1D Kinematics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445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B6"/>
                </a:solidFill>
                <a:latin typeface="Arial"/>
              </a:rP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Speed &amp; Velocity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384048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B1F3A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875">
            <a:solidFill>
              <a:srgbClr val="E9EDF3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8F84"/>
                </a:solidFill>
                <a:latin typeface="Arial"/>
              </a:rPr>
              <a:t>AVERAGE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71192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21408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33D4C"/>
                </a:solidFill>
                <a:latin typeface="Arial"/>
              </a:rPr>
              <a:t>Speed</a:t>
            </a:r>
            <a:r>
              <a:rPr sz="1400" b="0" i="0">
                <a:solidFill>
                  <a:srgbClr val="333D4C"/>
                </a:solidFill>
                <a:latin typeface="Arial"/>
              </a:rPr>
              <a:t> = distance / time (scalar)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92832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43048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33D4C"/>
                </a:solidFill>
                <a:latin typeface="Arial"/>
              </a:rPr>
              <a:t>Velocity</a:t>
            </a:r>
            <a:r>
              <a:rPr sz="1400" b="0" i="0">
                <a:solidFill>
                  <a:srgbClr val="333D4C"/>
                </a:solidFill>
                <a:latin typeface="Arial"/>
              </a:rPr>
              <a:t> = displacement / time (vector)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14472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964688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Describes motion over an </a:t>
            </a:r>
            <a:r>
              <a:rPr sz="1400" b="1" i="0">
                <a:solidFill>
                  <a:srgbClr val="333D4C"/>
                </a:solidFill>
                <a:latin typeface="Arial"/>
              </a:rPr>
              <a:t>entire interval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875">
            <a:solidFill>
              <a:srgbClr val="E9EDF3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73736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76A1B"/>
                </a:solidFill>
                <a:latin typeface="Arial"/>
              </a:rPr>
              <a:t>INSTANTANEOUS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171192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2121408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Speed/velocity at </a:t>
            </a:r>
            <a:r>
              <a:rPr sz="1400" b="1" i="0">
                <a:solidFill>
                  <a:srgbClr val="333D4C"/>
                </a:solidFill>
                <a:latin typeface="Arial"/>
              </a:rPr>
              <a:t>one exact moment</a:t>
            </a:r>
            <a:r>
              <a:rPr sz="1400" b="0" i="0">
                <a:solidFill>
                  <a:srgbClr val="333D4C"/>
                </a:solidFill>
                <a:latin typeface="Arial"/>
              </a:rPr>
              <a:t> in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592832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2543048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What a speedometer shows </a:t>
            </a:r>
            <a:r>
              <a:rPr sz="1400" b="1" i="0">
                <a:solidFill>
                  <a:srgbClr val="333D4C"/>
                </a:solidFill>
                <a:latin typeface="Arial"/>
              </a:rPr>
              <a:t>right now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014472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2964688"/>
            <a:ext cx="45445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The limit of average velocity as Δt →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77639"/>
            <a:ext cx="5349240" cy="1417320"/>
          </a:xfrm>
          <a:prstGeom prst="roundRect">
            <a:avLst>
              <a:gd name="adj" fmla="val 12000"/>
            </a:avLst>
          </a:prstGeom>
          <a:solidFill>
            <a:srgbClr val="EAF3F7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77639"/>
            <a:ext cx="82296" cy="14173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114799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F84"/>
                </a:solidFill>
                <a:latin typeface="Arial"/>
              </a:rPr>
              <a:t>AVERAGE VELOCITY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416551"/>
            <a:ext cx="48371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B1F3A"/>
                </a:solidFill>
                <a:latin typeface="Cambria"/>
              </a:rPr>
              <a:t>v_avg = Δx / Δt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333D4C"/>
                </a:solidFill>
                <a:latin typeface="Arial"/>
              </a:rPr>
              <a:t>Δx = displacement,  Δt = time elapsed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77639"/>
            <a:ext cx="5349240" cy="1417320"/>
          </a:xfrm>
          <a:prstGeom prst="roundRect">
            <a:avLst>
              <a:gd name="adj" fmla="val 12000"/>
            </a:avLst>
          </a:prstGeom>
          <a:solidFill>
            <a:srgbClr val="FCF2E3"/>
          </a:solidFill>
          <a:ln w="19050">
            <a:solidFill>
              <a:srgbClr val="F2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77639"/>
            <a:ext cx="82296" cy="1417320"/>
          </a:xfrm>
          <a:prstGeom prst="rect">
            <a:avLst/>
          </a:prstGeom>
          <a:solidFill>
            <a:srgbClr val="F2A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114799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F84"/>
                </a:solidFill>
                <a:latin typeface="Arial"/>
              </a:rPr>
              <a:t>AVERAGE 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4416551"/>
            <a:ext cx="48371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B1F3A"/>
                </a:solidFill>
                <a:latin typeface="Cambria"/>
              </a:rPr>
              <a:t>speed_avg = d / 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333D4C"/>
                </a:solidFill>
                <a:latin typeface="Arial"/>
              </a:rPr>
              <a:t>d = total distance,  t = total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23560"/>
            <a:ext cx="10424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C4B6"/>
                </a:solidFill>
                <a:latin typeface="Arial"/>
              </a:rPr>
              <a:t>Units: </a:t>
            </a:r>
            <a:r>
              <a:rPr sz="1350" b="0" i="0">
                <a:solidFill>
                  <a:srgbClr val="FFFFFF"/>
                </a:solidFill>
                <a:latin typeface="Arial"/>
              </a:rPr>
              <a:t>meters per second (m/s)   —   Velocity carries a sign; speed is always positive.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Physics Mechanics 101  |  1D Kinematics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445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B6"/>
                </a:solidFill>
                <a:latin typeface="Arial"/>
              </a:rP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Acceleration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384048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B1F3A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Arial"/>
              </a:rPr>
              <a:t>Definition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75358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0240"/>
            <a:ext cx="5138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The </a:t>
            </a:r>
            <a:r>
              <a:rPr sz="1550" b="1" i="0">
                <a:solidFill>
                  <a:srgbClr val="333D4C"/>
                </a:solidFill>
                <a:latin typeface="Arial"/>
              </a:rPr>
              <a:t>rate of change of velocity</a:t>
            </a:r>
            <a:r>
              <a:rPr sz="1550" b="0" i="0">
                <a:solidFill>
                  <a:srgbClr val="333D4C"/>
                </a:solidFill>
                <a:latin typeface="Arial"/>
              </a:rPr>
              <a:t> over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372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3254"/>
            <a:ext cx="5138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A </a:t>
            </a:r>
            <a:r>
              <a:rPr sz="1550" b="1" i="0">
                <a:solidFill>
                  <a:srgbClr val="333D4C"/>
                </a:solidFill>
                <a:latin typeface="Arial"/>
              </a:rPr>
              <a:t>vector</a:t>
            </a:r>
            <a:r>
              <a:rPr sz="1550" b="0" i="0">
                <a:solidFill>
                  <a:srgbClr val="333D4C"/>
                </a:solidFill>
                <a:latin typeface="Arial"/>
              </a:rPr>
              <a:t> — has direction, just like velocity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61386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06268"/>
            <a:ext cx="5138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Occurs whenever speed OR direction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EAF3F7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82296" cy="1691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977640"/>
            <a:ext cx="4882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F84"/>
                </a:solidFill>
                <a:latin typeface="Arial"/>
              </a:rPr>
              <a:t>AVERAGE ACCELERATION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79392"/>
            <a:ext cx="4882896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B1F3A"/>
                </a:solidFill>
                <a:latin typeface="Cambria"/>
              </a:rPr>
              <a:t>a_avg = Δv / Δt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333D4C"/>
                </a:solidFill>
                <a:latin typeface="Arial"/>
              </a:rPr>
              <a:t>Δv = v_f − v_i     |     Units: meters per second² (m/s²)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0876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ECF7EE"/>
          </a:solidFill>
          <a:ln w="15875">
            <a:solidFill>
              <a:srgbClr val="3FA1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6733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46"/>
                </a:solidFill>
                <a:latin typeface="Arial"/>
              </a:rPr>
              <a:t>↑ SPEEDING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152904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103120"/>
            <a:ext cx="4590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Velocity and acceleration point the </a:t>
            </a:r>
            <a:r>
              <a:rPr sz="1400" b="1" i="0">
                <a:solidFill>
                  <a:srgbClr val="333D4C"/>
                </a:solidFill>
                <a:latin typeface="Arial"/>
              </a:rPr>
              <a:t>same direction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574544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524760"/>
            <a:ext cx="4590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e.g. v = +5 m/s, a = +2 m/s² → speeding up (+)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61188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CECEA"/>
          </a:solidFill>
          <a:ln w="15875">
            <a:solidFill>
              <a:srgbClr val="E05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7764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5A47"/>
                </a:solidFill>
                <a:latin typeface="Arial"/>
              </a:rPr>
              <a:t>↓ SLOWING DOWN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256024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206240"/>
            <a:ext cx="4590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Velocity and acceleration point in </a:t>
            </a:r>
            <a:r>
              <a:rPr sz="1400" b="1" i="0">
                <a:solidFill>
                  <a:srgbClr val="333D4C"/>
                </a:solidFill>
                <a:latin typeface="Arial"/>
              </a:rPr>
              <a:t>opposite directions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677664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4627880"/>
            <a:ext cx="4590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e.g. v = +5 m/s, a = −2 m/s² → slowing down (decelerating)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71500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71500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Key idea:  </a:t>
            </a:r>
            <a:r>
              <a:rPr sz="1300" b="0" i="0">
                <a:solidFill>
                  <a:srgbClr val="333D4C"/>
                </a:solidFill>
                <a:latin typeface="Arial"/>
              </a:rPr>
              <a:t>The sign of acceleration alone doesn't tell you speeding up or slowing down — compare it to the sign of velocity.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Physics Mechanics 101  |  1D Kinematics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445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B6"/>
                </a:solidFill>
                <a:latin typeface="Arial"/>
              </a:rPr>
              <a:t>FORMULA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The Big 4 Kinematic Equations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384048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B1F3A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1">
                <a:solidFill>
                  <a:srgbClr val="333D4C"/>
                </a:solidFill>
                <a:latin typeface="Arial"/>
              </a:rPr>
              <a:t>Valid whenever acceleration is </a:t>
            </a:r>
            <a:r>
              <a:rPr sz="1450" b="1" i="1">
                <a:solidFill>
                  <a:srgbClr val="333D4C"/>
                </a:solidFill>
                <a:latin typeface="Arial"/>
              </a:rPr>
              <a:t>constant.</a:t>
            </a:r>
            <a:r>
              <a:rPr sz="1450" b="0" i="1">
                <a:solidFill>
                  <a:srgbClr val="333D4C"/>
                </a:solidFill>
                <a:latin typeface="Arial"/>
              </a:rPr>
              <a:t>  Variables: x = position, v = velocity, a = acceleration, t =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417820" cy="1920240"/>
          </a:xfrm>
          <a:prstGeom prst="roundRect">
            <a:avLst>
              <a:gd name="adj" fmla="val 9000"/>
            </a:avLst>
          </a:prstGeom>
          <a:solidFill>
            <a:srgbClr val="EAF3F7"/>
          </a:solidFill>
          <a:ln w="15875">
            <a:solidFill>
              <a:srgbClr val="2EC4B6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16712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67128"/>
            <a:ext cx="36804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A"/>
                </a:solidFill>
                <a:latin typeface="Cambria"/>
              </a:rPr>
              <a:t>v_f = v_i + a 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4900" y="2185416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 i="0">
                <a:solidFill>
                  <a:srgbClr val="333D4C"/>
                </a:solidFill>
                <a:latin typeface="Arial"/>
              </a:rPr>
              <a:t>no Δx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49606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Velocity as a function of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965960"/>
            <a:ext cx="5417820" cy="1920240"/>
          </a:xfrm>
          <a:prstGeom prst="roundRect">
            <a:avLst>
              <a:gd name="adj" fmla="val 9000"/>
            </a:avLst>
          </a:prstGeom>
          <a:solidFill>
            <a:srgbClr val="EAF3F7"/>
          </a:solidFill>
          <a:ln w="15875">
            <a:solidFill>
              <a:srgbClr val="2EC4B6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216712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2167128"/>
            <a:ext cx="36804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A"/>
                </a:solidFill>
                <a:latin typeface="Cambria"/>
              </a:rPr>
              <a:t>Δx = v_i t + ½ a t²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61320" y="2185416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 i="0">
                <a:solidFill>
                  <a:srgbClr val="333D4C"/>
                </a:solidFill>
                <a:latin typeface="Arial"/>
              </a:rPr>
              <a:t>no v_f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3660" y="2834640"/>
            <a:ext cx="49606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Position as a function of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5417820" cy="1920240"/>
          </a:xfrm>
          <a:prstGeom prst="roundRect">
            <a:avLst>
              <a:gd name="adj" fmla="val 9000"/>
            </a:avLst>
          </a:prstGeom>
          <a:solidFill>
            <a:srgbClr val="EAF3F7"/>
          </a:solidFill>
          <a:ln w="15875">
            <a:solidFill>
              <a:srgbClr val="2EC4B6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431596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15968"/>
            <a:ext cx="36804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A"/>
                </a:solidFill>
                <a:latin typeface="Cambria"/>
              </a:rPr>
              <a:t>v_f² = v_i² + 2aΔx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14900" y="4334256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 i="0">
                <a:solidFill>
                  <a:srgbClr val="333D4C"/>
                </a:solidFill>
                <a:latin typeface="Arial"/>
              </a:rPr>
              <a:t>no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49606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Velocity independent of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5060" y="4114800"/>
            <a:ext cx="5417820" cy="1920240"/>
          </a:xfrm>
          <a:prstGeom prst="roundRect">
            <a:avLst>
              <a:gd name="adj" fmla="val 9000"/>
            </a:avLst>
          </a:prstGeom>
          <a:solidFill>
            <a:srgbClr val="EAF3F7"/>
          </a:solidFill>
          <a:ln w="15875">
            <a:solidFill>
              <a:srgbClr val="2EC4B6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3660" y="431596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2300" y="4315968"/>
            <a:ext cx="36804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A"/>
                </a:solidFill>
                <a:latin typeface="Cambria"/>
              </a:rPr>
              <a:t>Δx = ½ (v_i + v_f) 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61320" y="4334256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 i="0">
                <a:solidFill>
                  <a:srgbClr val="333D4C"/>
                </a:solidFill>
                <a:latin typeface="Arial"/>
              </a:rPr>
              <a:t>no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3660" y="4983480"/>
            <a:ext cx="49606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Average of initial &amp; final velocity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Physics Mechanics 101  |  1D Kinematics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445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B6"/>
                </a:solidFill>
                <a:latin typeface="Arial"/>
              </a:rPr>
              <a:t>VISUALIZING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Graphing Motion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384048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B1F3A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875">
            <a:solidFill>
              <a:srgbClr val="E9EDF3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18488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B1F3A"/>
                </a:solidFill>
                <a:latin typeface="Arial"/>
              </a:rPr>
              <a:t>Position vs. Time (x–t)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1560" y="3474720"/>
            <a:ext cx="2788920" cy="0"/>
          </a:xfrm>
          <a:prstGeom prst="line">
            <a:avLst/>
          </a:prstGeom>
          <a:ln w="1587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51560" y="2011680"/>
            <a:ext cx="0" cy="1463040"/>
          </a:xfrm>
          <a:prstGeom prst="line">
            <a:avLst/>
          </a:prstGeom>
          <a:ln w="1587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0" y="35021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333D4C"/>
                </a:solidFill>
                <a:latin typeface="Arial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333D4C"/>
                </a:solidFill>
                <a:latin typeface="Arial"/>
              </a:rPr>
              <a:t>x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051560" y="3464560"/>
            <a:ext cx="232410" cy="10160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83970" y="3434080"/>
            <a:ext cx="232410" cy="30480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16380" y="3383280"/>
            <a:ext cx="232410" cy="50800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8790" y="3312160"/>
            <a:ext cx="232410" cy="71120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981200" y="3220720"/>
            <a:ext cx="232410" cy="91440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13610" y="3108960"/>
            <a:ext cx="232410" cy="111760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46020" y="2976880"/>
            <a:ext cx="232410" cy="132080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78430" y="2824480"/>
            <a:ext cx="232410" cy="152400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910840" y="2651760"/>
            <a:ext cx="232410" cy="172720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143250" y="2458720"/>
            <a:ext cx="232410" cy="193040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375660" y="2245361"/>
            <a:ext cx="232410" cy="213359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608070" y="2011680"/>
            <a:ext cx="232410" cy="233681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35844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8A93A3"/>
                </a:solidFill>
                <a:latin typeface="Arial"/>
              </a:rPr>
              <a:t>Curving slope → changing velocity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150876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875">
            <a:solidFill>
              <a:srgbClr val="E9EDF3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1618488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B1F3A"/>
                </a:solidFill>
                <a:latin typeface="Arial"/>
              </a:rPr>
              <a:t>Velocity vs. Time (v–t)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28032" y="3474720"/>
            <a:ext cx="2788920" cy="0"/>
          </a:xfrm>
          <a:prstGeom prst="line">
            <a:avLst/>
          </a:prstGeom>
          <a:ln w="1587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828032" y="2011680"/>
            <a:ext cx="0" cy="1463040"/>
          </a:xfrm>
          <a:prstGeom prst="line">
            <a:avLst/>
          </a:prstGeom>
          <a:ln w="1587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59752" y="35021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333D4C"/>
                </a:solidFill>
                <a:latin typeface="Arial"/>
              </a:rP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1874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333D4C"/>
                </a:solidFill>
                <a:latin typeface="Arial"/>
              </a:rPr>
              <a:t>v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28032" y="2670048"/>
            <a:ext cx="2788920" cy="0"/>
          </a:xfrm>
          <a:prstGeom prst="line">
            <a:avLst/>
          </a:prstGeom>
          <a:ln w="31750">
            <a:solidFill>
              <a:srgbClr val="F2A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07992" y="35844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8A93A3"/>
                </a:solidFill>
                <a:latin typeface="Arial"/>
              </a:rPr>
              <a:t>Horizontal line → constant velocity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1584" y="150876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875">
            <a:solidFill>
              <a:srgbClr val="E9EDF3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1618488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B1F3A"/>
                </a:solidFill>
                <a:latin typeface="Arial"/>
              </a:rPr>
              <a:t>Acceleration vs. Time (a–t)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04504" y="3474720"/>
            <a:ext cx="2788920" cy="0"/>
          </a:xfrm>
          <a:prstGeom prst="line">
            <a:avLst/>
          </a:prstGeom>
          <a:ln w="1587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04504" y="2011680"/>
            <a:ext cx="0" cy="1463040"/>
          </a:xfrm>
          <a:prstGeom prst="line">
            <a:avLst/>
          </a:prstGeom>
          <a:ln w="1587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936224" y="35021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333D4C"/>
                </a:solidFill>
                <a:latin typeface="Arial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47304" y="1874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333D4C"/>
                </a:solidFill>
                <a:latin typeface="Arial"/>
              </a:rPr>
              <a:t>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04504" y="3474720"/>
            <a:ext cx="2788920" cy="0"/>
          </a:xfrm>
          <a:prstGeom prst="line">
            <a:avLst/>
          </a:prstGeom>
          <a:ln w="31750">
            <a:solidFill>
              <a:srgbClr val="E05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84464" y="35844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8A93A3"/>
                </a:solidFill>
                <a:latin typeface="Arial"/>
              </a:rPr>
              <a:t>On axis → zero acceleration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27939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8F84"/>
                </a:solidFill>
                <a:latin typeface="Arial"/>
              </a:rPr>
              <a:t>SLOPE reveals the next quantity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4758944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992" y="4709160"/>
            <a:ext cx="4590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Slope of </a:t>
            </a:r>
            <a:r>
              <a:rPr sz="1400" b="1" i="0">
                <a:solidFill>
                  <a:srgbClr val="333D4C"/>
                </a:solidFill>
                <a:latin typeface="Arial"/>
              </a:rPr>
              <a:t>x–t graph</a:t>
            </a:r>
            <a:r>
              <a:rPr sz="1400" b="0" i="0">
                <a:solidFill>
                  <a:srgbClr val="333D4C"/>
                </a:solidFill>
                <a:latin typeface="Arial"/>
              </a:rPr>
              <a:t> = velocity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205984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8992" y="5156200"/>
            <a:ext cx="4590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Slope of </a:t>
            </a:r>
            <a:r>
              <a:rPr sz="1400" b="1" i="0">
                <a:solidFill>
                  <a:srgbClr val="333D4C"/>
                </a:solidFill>
                <a:latin typeface="Arial"/>
              </a:rPr>
              <a:t>v–t graph</a:t>
            </a:r>
            <a:r>
              <a:rPr sz="1400" b="0" i="0">
                <a:solidFill>
                  <a:srgbClr val="333D4C"/>
                </a:solidFill>
                <a:latin typeface="Arial"/>
              </a:rPr>
              <a:t> = acceleration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11480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CF2E3"/>
          </a:solidFill>
          <a:ln w="15875">
            <a:solidFill>
              <a:srgbClr val="F2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27939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76A1B"/>
                </a:solidFill>
                <a:latin typeface="Arial"/>
              </a:rPr>
              <a:t>AREA reveals the previous quantity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7960" y="4758944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93992" y="4709160"/>
            <a:ext cx="4590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Area under </a:t>
            </a:r>
            <a:r>
              <a:rPr sz="1400" b="1" i="0">
                <a:solidFill>
                  <a:srgbClr val="333D4C"/>
                </a:solidFill>
                <a:latin typeface="Arial"/>
              </a:rPr>
              <a:t>v–t graph</a:t>
            </a:r>
            <a:r>
              <a:rPr sz="1400" b="0" i="0">
                <a:solidFill>
                  <a:srgbClr val="333D4C"/>
                </a:solidFill>
                <a:latin typeface="Arial"/>
              </a:rPr>
              <a:t> = displacement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5205984"/>
            <a:ext cx="60452" cy="604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93992" y="5156200"/>
            <a:ext cx="4590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3D4C"/>
                </a:solidFill>
                <a:latin typeface="Arial"/>
              </a:rPr>
              <a:t>Area under </a:t>
            </a:r>
            <a:r>
              <a:rPr sz="1400" b="1" i="0">
                <a:solidFill>
                  <a:srgbClr val="333D4C"/>
                </a:solidFill>
                <a:latin typeface="Arial"/>
              </a:rPr>
              <a:t>a–t graph</a:t>
            </a:r>
            <a:r>
              <a:rPr sz="1400" b="0" i="0">
                <a:solidFill>
                  <a:srgbClr val="333D4C"/>
                </a:solidFill>
                <a:latin typeface="Arial"/>
              </a:rPr>
              <a:t> = change in velocity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Physics Mechanics 101  |  1D Kinematics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445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B6"/>
                </a:solidFill>
                <a:latin typeface="Arial"/>
              </a:rPr>
              <a:t>SPECIAL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Free Fall &amp; Gravity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384048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B1F3A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Arial"/>
              </a:rPr>
              <a:t>What is Free Fall?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75358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0240"/>
            <a:ext cx="5138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Motion under the influence of </a:t>
            </a:r>
            <a:r>
              <a:rPr sz="1550" b="1" i="0">
                <a:solidFill>
                  <a:srgbClr val="333D4C"/>
                </a:solidFill>
                <a:latin typeface="Arial"/>
              </a:rPr>
              <a:t>gravity alone</a:t>
            </a:r>
            <a:r>
              <a:rPr sz="1550" b="0" i="0">
                <a:solidFill>
                  <a:srgbClr val="333D4C"/>
                </a:solidFill>
                <a:latin typeface="Arial"/>
              </a:rPr>
              <a:t> — no air resistance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372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3254"/>
            <a:ext cx="5138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All objects fall with the </a:t>
            </a:r>
            <a:r>
              <a:rPr sz="1550" b="1" i="0">
                <a:solidFill>
                  <a:srgbClr val="333D4C"/>
                </a:solidFill>
                <a:latin typeface="Arial"/>
              </a:rPr>
              <a:t>same acceleration</a:t>
            </a:r>
            <a:r>
              <a:rPr sz="1550" b="0" i="0">
                <a:solidFill>
                  <a:srgbClr val="333D4C"/>
                </a:solidFill>
                <a:latin typeface="Arial"/>
              </a:rPr>
              <a:t>, regardless of mass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61386"/>
            <a:ext cx="66929" cy="66929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06268"/>
            <a:ext cx="5138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33D4C"/>
                </a:solidFill>
                <a:latin typeface="Arial"/>
              </a:rPr>
              <a:t>Acceleration is always directed </a:t>
            </a:r>
            <a:r>
              <a:rPr sz="1550" b="1" i="0">
                <a:solidFill>
                  <a:srgbClr val="333D4C"/>
                </a:solidFill>
                <a:latin typeface="Arial"/>
              </a:rPr>
              <a:t>downward</a:t>
            </a:r>
            <a:r>
              <a:rPr sz="1550" b="0" i="0">
                <a:solidFill>
                  <a:srgbClr val="333D4C"/>
                </a:solidFill>
                <a:latin typeface="Arial"/>
              </a:rPr>
              <a:t>, toward Earth's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5394960" cy="1508760"/>
          </a:xfrm>
          <a:prstGeom prst="roundRect">
            <a:avLst>
              <a:gd name="adj" fmla="val 12000"/>
            </a:avLst>
          </a:prstGeom>
          <a:solidFill>
            <a:srgbClr val="FCECEA"/>
          </a:solidFill>
          <a:ln w="19050">
            <a:solidFill>
              <a:srgbClr val="E05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82296" cy="150876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297680"/>
            <a:ext cx="4882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F84"/>
                </a:solidFill>
                <a:latin typeface="Arial"/>
              </a:rPr>
              <a:t>ACCELERATION DUE TO GRAVITY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599432"/>
            <a:ext cx="4882896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B1F3A"/>
                </a:solidFill>
                <a:latin typeface="Cambria"/>
              </a:rPr>
              <a:t>g ≈ 9.8 m/s²  (downward)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333D4C"/>
                </a:solidFill>
                <a:latin typeface="Arial"/>
              </a:rPr>
              <a:t>Some texts round to 10 m/s² for quick estimates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08760"/>
            <a:ext cx="5349240" cy="41605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C4B6"/>
                </a:solidFill>
                <a:latin typeface="Arial"/>
              </a:rPr>
              <a:t>Sign convention (common choice)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2148840"/>
            <a:ext cx="457200" cy="457200"/>
          </a:xfrm>
          <a:prstGeom prst="ellipse">
            <a:avLst/>
          </a:prstGeom>
          <a:solidFill>
            <a:srgbClr val="F2A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8851392" y="2743200"/>
            <a:ext cx="228600" cy="2194560"/>
          </a:xfrm>
          <a:prstGeom prst="downArrow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32918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g = −9.8 m/s²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E9EDF3"/>
                </a:solidFill>
                <a:latin typeface="Arial"/>
              </a:rPr>
              <a:t>(if up is +)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1206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9EDF3"/>
                </a:solidFill>
                <a:latin typeface="Arial"/>
              </a:rPr>
              <a:t>• Up = positive, Down = negative → g is negative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9EDF3"/>
                </a:solidFill>
                <a:latin typeface="Arial"/>
              </a:rPr>
              <a:t>• The Big 4 equations apply directly, using a = 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Physics Mechanics 101  |  1D Kinematics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93A3"/>
                </a:solidFill>
                <a:latin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445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B6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Problem-Solving Steps &amp; Summary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384048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B1F3A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Arial"/>
              </a:rPr>
              <a:t>4-Step Problem-Solving 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9050">
            <a:solidFill>
              <a:srgbClr val="2EC4B6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Arial"/>
              </a:rPr>
              <a:t>GIVEN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D4C"/>
                </a:solidFill>
                <a:latin typeface="Arial"/>
              </a:rPr>
              <a:t>List every known value from the problem (with units &amp; signs)</a:t>
            </a:r>
          </a:p>
        </p:txBody>
      </p:sp>
      <p:sp>
        <p:nvSpPr>
          <p:cNvPr id="12" name="Chevron 11"/>
          <p:cNvSpPr/>
          <p:nvPr/>
        </p:nvSpPr>
        <p:spPr>
          <a:xfrm>
            <a:off x="3163824" y="2724912"/>
            <a:ext cx="164592" cy="219456"/>
          </a:xfrm>
          <a:prstGeom prst="chevron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92024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9050">
            <a:solidFill>
              <a:srgbClr val="F2A63D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2103120"/>
            <a:ext cx="411480" cy="411480"/>
          </a:xfrm>
          <a:prstGeom prst="ellipse">
            <a:avLst/>
          </a:prstGeom>
          <a:solidFill>
            <a:srgbClr val="F2A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517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Arial"/>
              </a:rPr>
              <a:t>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9718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D4C"/>
                </a:solidFill>
                <a:latin typeface="Arial"/>
              </a:rPr>
              <a:t>Identify exactly what quantity you're solving for</a:t>
            </a:r>
          </a:p>
        </p:txBody>
      </p:sp>
      <p:sp>
        <p:nvSpPr>
          <p:cNvPr id="17" name="Chevron 16"/>
          <p:cNvSpPr/>
          <p:nvPr/>
        </p:nvSpPr>
        <p:spPr>
          <a:xfrm>
            <a:off x="5952744" y="2724912"/>
            <a:ext cx="164592" cy="219456"/>
          </a:xfrm>
          <a:prstGeom prst="chevron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192024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9050">
            <a:solidFill>
              <a:srgbClr val="7A6FDB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9360" y="2103120"/>
            <a:ext cx="411480" cy="411480"/>
          </a:xfrm>
          <a:prstGeom prst="ellipse">
            <a:avLst/>
          </a:prstGeom>
          <a:solidFill>
            <a:srgbClr val="7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Arial"/>
              </a:rPr>
              <a:t>EQUATION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718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D4C"/>
                </a:solidFill>
                <a:latin typeface="Arial"/>
              </a:rPr>
              <a:t>Pick the Big 4 equation that has your knowns + unknown (no extras)</a:t>
            </a:r>
          </a:p>
        </p:txBody>
      </p:sp>
      <p:sp>
        <p:nvSpPr>
          <p:cNvPr id="22" name="Chevron 21"/>
          <p:cNvSpPr/>
          <p:nvPr/>
        </p:nvSpPr>
        <p:spPr>
          <a:xfrm>
            <a:off x="8741664" y="2724912"/>
            <a:ext cx="164592" cy="219456"/>
          </a:xfrm>
          <a:prstGeom prst="chevron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192024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9050">
            <a:solidFill>
              <a:srgbClr val="E05A47"/>
            </a:solidFill>
          </a:ln>
          <a:effectLst/>
          <a:effectLst>
            <a:outerShdw blurRad="90000" dist="30000" dir="5400000" rotWithShape="0">
              <a:srgbClr val="1B222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98280" y="2103120"/>
            <a:ext cx="411480" cy="411480"/>
          </a:xfrm>
          <a:prstGeom prst="ellipse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6517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Arial"/>
              </a:rPr>
              <a:t>SOLVE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9718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D4C"/>
                </a:solidFill>
                <a:latin typeface="Arial"/>
              </a:rPr>
              <a:t>Substitute values, solve algebraically, and check 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Arial"/>
              </a:rPr>
              <a:t>Unit Recap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663440"/>
            <a:ext cx="19476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EC4B6"/>
                </a:solidFill>
                <a:latin typeface="Cambria"/>
              </a:rPr>
              <a:t>x, Δx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57800"/>
            <a:ext cx="19476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9EDF3"/>
                </a:solidFill>
                <a:latin typeface="Arial"/>
              </a:rPr>
              <a:t>Position &amp; Displacement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70631" y="4617720"/>
            <a:ext cx="12700" cy="12801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7791" y="4663440"/>
            <a:ext cx="19476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EC4B6"/>
                </a:solidFill>
                <a:latin typeface="Cambria"/>
              </a:rPr>
              <a:t>v_avg = Δx/Δt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7791" y="5257800"/>
            <a:ext cx="19476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9EDF3"/>
                </a:solidFill>
                <a:latin typeface="Arial"/>
              </a:rPr>
              <a:t>Velocity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55462" y="4617720"/>
            <a:ext cx="12700" cy="12801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2622" y="4663440"/>
            <a:ext cx="19476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EC4B6"/>
                </a:solidFill>
                <a:latin typeface="Cambria"/>
              </a:rPr>
              <a:t>a_avg = Δv/Δt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2622" y="5257800"/>
            <a:ext cx="19476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9EDF3"/>
                </a:solidFill>
                <a:latin typeface="Arial"/>
              </a:rPr>
              <a:t>Acceleration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0293" y="4617720"/>
            <a:ext cx="12700" cy="12801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77453" y="4663440"/>
            <a:ext cx="19476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EC4B6"/>
                </a:solidFill>
                <a:latin typeface="Cambria"/>
              </a:rPr>
              <a:t>Big 4 Equations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77453" y="5257800"/>
            <a:ext cx="19476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9EDF3"/>
                </a:solidFill>
                <a:latin typeface="Arial"/>
              </a:rPr>
              <a:t>Constant acceleration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25124" y="4617720"/>
            <a:ext cx="12700" cy="12801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4" y="4663440"/>
            <a:ext cx="19476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EC4B6"/>
                </a:solidFill>
                <a:latin typeface="Cambria"/>
              </a:rPr>
              <a:t>g ≈ 9.8 m/s²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4" y="5257800"/>
            <a:ext cx="19476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9EDF3"/>
                </a:solidFill>
                <a:latin typeface="Arial"/>
              </a:rPr>
              <a:t>Free fall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8A93A3"/>
                </a:solidFill>
                <a:latin typeface="Arial"/>
              </a:rPr>
              <a:t>Next up: Unit 2 — Kinematics in Two Dimensions (Projectile Motion)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